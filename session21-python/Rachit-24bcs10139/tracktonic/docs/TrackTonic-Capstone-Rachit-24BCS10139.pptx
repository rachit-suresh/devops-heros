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AF7A0"/>
                </a:solidFill>
                <a:latin typeface="Arial"/>
              </a:rPr>
              <a:t>SESSION 21 DEVOPS CAPSTONE</a:t>
            </a:r>
          </a:p>
          <a:p>
            <a:pPr algn="l">
              <a:spcAft>
                <a:spcPts val="600"/>
              </a:spcAft>
            </a:pPr>
            <a:r>
              <a:rPr sz="6000" b="1">
                <a:solidFill>
                  <a:srgbClr val="EAF2EC"/>
                </a:solidFill>
                <a:latin typeface="Arial"/>
              </a:rPr>
              <a:t>TrackTonic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9FB3A7"/>
                </a:solidFill>
                <a:latin typeface="Arial"/>
              </a:rPr>
              <a:t>A music listening tracker, shipped with a full DevOps pipeline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AF2EC"/>
                </a:solidFill>
                <a:latin typeface="Arial"/>
              </a:rPr>
              <a:t>Rachit  |  24BCS10139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3A7"/>
                </a:solidFill>
                <a:latin typeface="Arial"/>
              </a:rPr>
              <a:t>FastAPI + PostgreSQL + Docker + GitHub Actions + Terraform + Kubernetes + Helm + Prometheus/Grafana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691640"/>
            <a:ext cx="1005840" cy="508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M1 - APPLICATION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What TrackTonic does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3A7"/>
                </a:solidFill>
                <a:latin typeface="Arial"/>
              </a:rPr>
              <a:t>Queue albums, track what is playing, log listens with a 1-5 rating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394960" cy="41436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Stack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FastAPI + SQLAlchemy + Alembic backend, PostgreSQL 16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Vanilla JS single-page frontend served by nginx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Prometheus metrics on /metrics, Grafana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API (4+ REST endpoints)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GET/POST /api/albums, PATCH status + rating, DELETE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Readiness /ready and liveness /health probes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Responsive UI verified at 390px and 320px widths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ARCHITECTURE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How the pieces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1737360" cy="1005840"/>
          </a:xfrm>
          <a:prstGeom prst="rect">
            <a:avLst/>
          </a:prstGeom>
          <a:solidFill>
            <a:srgbClr val="16211C"/>
          </a:solidFill>
          <a:ln w="15875">
            <a:solidFill>
              <a:srgbClr val="BAF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AF2EC"/>
                </a:solidFill>
                <a:latin typeface="Arial"/>
              </a:rPr>
              <a:t>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2450592"/>
            <a:ext cx="384048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2011680"/>
            <a:ext cx="1737360" cy="1005840"/>
          </a:xfrm>
          <a:prstGeom prst="rect">
            <a:avLst/>
          </a:prstGeom>
          <a:solidFill>
            <a:srgbClr val="16211C"/>
          </a:solidFill>
          <a:ln w="15875">
            <a:solidFill>
              <a:srgbClr val="BAF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AF2EC"/>
                </a:solidFill>
                <a:latin typeface="Arial"/>
              </a:rPr>
              <a:t>nginx frontend
(UID 101)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2450592"/>
            <a:ext cx="384048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2011680"/>
            <a:ext cx="1737360" cy="1005840"/>
          </a:xfrm>
          <a:prstGeom prst="rect">
            <a:avLst/>
          </a:prstGeom>
          <a:solidFill>
            <a:srgbClr val="16211C"/>
          </a:solidFill>
          <a:ln w="15875">
            <a:solidFill>
              <a:srgbClr val="BAF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AF2EC"/>
                </a:solidFill>
                <a:latin typeface="Arial"/>
              </a:rPr>
              <a:t>FastAPI backend
(UID 10001)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2450592"/>
            <a:ext cx="384048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1737360" cy="1005840"/>
          </a:xfrm>
          <a:prstGeom prst="rect">
            <a:avLst/>
          </a:prstGeom>
          <a:solidFill>
            <a:srgbClr val="16211C"/>
          </a:solidFill>
          <a:ln w="15875">
            <a:solidFill>
              <a:srgbClr val="BAF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AF2EC"/>
                </a:solidFill>
                <a:latin typeface="Arial"/>
              </a:rPr>
              <a:t>PostgreSQL 16
(PVC + Secret)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38359" y="2450592"/>
            <a:ext cx="384048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20" y="2011680"/>
            <a:ext cx="1737360" cy="1005840"/>
          </a:xfrm>
          <a:prstGeom prst="rect">
            <a:avLst/>
          </a:prstGeom>
          <a:solidFill>
            <a:srgbClr val="16211C"/>
          </a:solidFill>
          <a:ln w="15875">
            <a:solidFill>
              <a:srgbClr val="BAF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AF2EC"/>
                </a:solidFill>
                <a:latin typeface="Arial"/>
              </a:rPr>
              <a:t>Alembic
migration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3A7"/>
                </a:solidFill>
                <a:latin typeface="Arial"/>
              </a:rPr>
              <a:t>Prometheus scrapes backend:8000/metrics every 5s  -&gt;  Grafana dashboard (pre-provisioned, anonymous read for demo)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10972800" cy="173736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Design choices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Every request flows browser -&gt; ingress -&gt; frontend -&gt; backend -&gt; Postgres; migrations run as a Helm pre-upgrade Job, with an init container gating backend start.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Images are built once, SHA-tagged, scanned, and only then promoted - Compose and kind run the exact scanned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M3 + M5 - GIT &amp; CI/CD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Every push runs the full pipeline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3A7"/>
                </a:solidFill>
                <a:latin typeface="Arial"/>
              </a:rPr>
              <a:t>GitHub Actions on branch session-21-capstone-rachit-24bcs10139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git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938528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39112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pytest (18 tests)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38144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frontend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6592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37176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terraform validate
+ LocalStack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5624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docker build
(SHA tags)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34656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Trivy gate
HIGH/CRITICAL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3688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4272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push GHCR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9" y="2286000"/>
            <a:ext cx="91440" cy="3175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33303" y="1920240"/>
            <a:ext cx="1280160" cy="868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EAF2EC"/>
                </a:solidFill>
                <a:latin typeface="Arial"/>
              </a:rPr>
              <a:t>kind deploy
+ browser proof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00400"/>
            <a:ext cx="10972800" cy="28346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Latest run: all 4 jobs green (run 38833116664)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pytest 18/18 - frontend build - terraform-local-proof - build-scan-publish-demo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Images published: ghcr.io/rachit-suresh/tracktonic-backend:&lt;sha&gt; and tracktonic-frontend:&lt;sha&gt;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The pipeline then deploys the scanned images to a throwaway kind cluster and uploads real evidence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(logs, kubectl output, Playwright screenshots) as the tracktonic-proof-&lt;sha&gt; artifact.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M4 - DOCKER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Small, non-root, reproducible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Backend image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Multi-stage: dependencies build into a venv in 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separate stage; runtime stage carries no pip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Runs as uid 10001, slim Debian base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Healthcheck hits /ready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docker compose up --build runs the whole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Frontend image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Multi-stage: node build -&gt; nginxinc/nginx-unprivileged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Runs as uid 101 on port 8080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Static bundle only - no Node in the runtime image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Compose health gates: db healthy -&gt; backend ready -&gt; 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M6 - SECURITY SCANNING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Trivy gates before anything 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The gate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Both images scanned on every push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Severity HIGH + CRITICAL, exit code 1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Publish to GHCR happens only after both scans pass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No secrets in git - Postgres password comes from a Secret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What the scan caught (and the fix)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pip's own vendored libraries (msgpack, urllib3,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setuptools) were flagged via its bundled SBOM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-&gt; runtime image now ships no pip at all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Unfixed Debian base CVEs are ignored explicitly;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anything with a released fix still fails the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M8 - KUBERNETES + HELM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One chart deploys the whole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Chart features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Postgres with PersistentVolumeClaim + Secret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Pre-upgrade Alembic migration Job + init gate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Readiness/liveness probes on every workload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HPA: 2-6 replicas at 70% CPU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nginx ingress on tracktonic.local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Proven on kind (from CI evidence)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kubectl get pods: backend x2, frontend x2, postgres,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prometheus, grafana all Running; migrate Completed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helm list shows the deployed release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Ingress serves the app; break-and-repair of a Service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captured via EndpointSlice diffs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M9 - OBSERVABILITY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Prometheus scrapes, Grafana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metheus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394960" cy="3746500"/>
          </a:xfrm>
          <a:prstGeom prst="rect">
            <a:avLst/>
          </a:prstGeom>
        </p:spPr>
      </p:pic>
      <p:pic>
        <p:nvPicPr>
          <p:cNvPr id="5" name="Picture 4" descr="grafana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5394960" cy="374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3A7"/>
                </a:solidFill>
                <a:latin typeface="Arial"/>
              </a:rPr>
              <a:t>Targets UP - tracktonic_http_requests_total counter + latency histogram per endpoint - 5s scrape interval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M7 - TERRAFORM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AWS design, validated and lifecycle-tested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terraform/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VPC + EKS module design for the real deployment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terraform fmt / init / validate run in CI on every push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No credentials committed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terraform-localstack/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Same lifecycle applied locally against LocalStack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Full apply + destroy log uploaded as CI evidence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(artifact tracktonic-local-infra-&lt;sha&gt;)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M10 - LIVE DEMO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Commit -&gt; pipeline -&gt; deployment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057400" cy="12344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EAF2EC"/>
                </a:solidFill>
                <a:latin typeface="Arial"/>
              </a:rPr>
              <a:t>1. Change the app
and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2011680"/>
            <a:ext cx="2057400" cy="12344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EAF2EC"/>
                </a:solidFill>
                <a:latin typeface="Arial"/>
              </a:rPr>
              <a:t>2. Watch Actions:
tests + scans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011680"/>
            <a:ext cx="2057400" cy="12344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EAF2EC"/>
                </a:solidFill>
                <a:latin typeface="Arial"/>
              </a:rPr>
              <a:t>3. New SHA image
lands in GHCR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2011680"/>
            <a:ext cx="2057400" cy="12344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EAF2EC"/>
                </a:solidFill>
                <a:latin typeface="Arial"/>
              </a:rPr>
              <a:t>4. helm upgrade pulls
the new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2011680"/>
            <a:ext cx="2057400" cy="12344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EAF2EC"/>
                </a:solidFill>
                <a:latin typeface="Arial"/>
              </a:rPr>
              <a:t>5. UI + Grafana
show the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Talking points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Why the gate order matters: scan before publish, deploy only what was scanned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Why migrations are a Job, why probes differ (/health vs /ready), how HPA reacts under load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AF2EC"/>
                </a:solidFill>
                <a:latin typeface="Arial"/>
              </a:rPr>
              <a:t>How a broken Service selector was diagnosed with EndpointSlices and repaired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BAF7A0"/>
                </a:solidFill>
                <a:latin typeface="Arial"/>
              </a:rPr>
              <a:t>EVIDENCE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EAF2EC"/>
                </a:solidFill>
                <a:latin typeface="Arial"/>
              </a:rPr>
              <a:t>Everything above is reproducible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"/>
            <a:ext cx="502920" cy="38100"/>
          </a:xfrm>
          <a:prstGeom prst="rect">
            <a:avLst/>
          </a:prstGeom>
          <a:solidFill>
            <a:srgbClr val="BAF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solidFill>
            <a:srgbClr val="16211C"/>
          </a:solidFill>
          <a:ln w="12700">
            <a:solidFill>
              <a:srgbClr val="2A3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AF7A0"/>
                </a:solidFill>
                <a:latin typeface="Arial"/>
              </a:rPr>
              <a:t>Links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Repo + branch: github.com/rachit-suresh/devops-heros  (session-21-capstone-rachit-24bcs10139)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Green CI run: github.com/rachit-suresh/devops-heros/actions/runs/38833116664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Artifacts: tracktonic-proof-&lt;sha&gt; (runtime logs, screenshots, kubectl output, Prometheus/Grafana captures)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           tracktonic-local-infra-&lt;sha&gt; (terraform validate + LocalStack apply/destroy)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Images: ghcr.io/rachit-suresh/tracktonic-backend:&lt;sha&gt;  |  ghcr.io/rachit-suresh/tracktonic-frontend:&lt;sha&gt;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AF2EC"/>
                </a:solidFill>
                <a:latin typeface="Arial"/>
              </a:rPr>
              <a:t>App dir: session21-python/Rachit-24bcs10139/tracktonic (README.md has the full runbook)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